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Overall Accuracy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922B2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22B2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C706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9322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TinyLlama
(1.1B)</c:v>
                  </c:pt>
                  <c:pt idx="1">
                    <c:v>Phi-3 Mini
(3.8B)</c:v>
                  </c:pt>
                  <c:pt idx="2">
                    <c:v>Gemma 2
(2B)</c:v>
                  </c:pt>
                  <c:pt idx="3">
                    <c:v>Llama 3
(8B)</c:v>
                  </c:pt>
                  <c:pt idx="4">
                    <c:v>Mistral 7B
(7B)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7.22</c:v>
                </c:pt>
                <c:pt idx="1">
                  <c:v>69.72</c:v>
                </c:pt>
                <c:pt idx="2">
                  <c:v>81.67</c:v>
                </c:pt>
                <c:pt idx="3">
                  <c:v>82.22</c:v>
                </c:pt>
                <c:pt idx="4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Accuracy by Ambiguity Level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Phi-3 Mini</c:v>
                </c:pt>
              </c:strCache>
            </c:strRef>
          </c:tx>
          <c:spPr>
            <a:solidFill>
              <a:srgbClr val="E74C3C"/>
            </a:solidFill>
            <a:ln w="31750" cap="flat">
              <a:solidFill>
                <a:srgbClr val="E74C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74C3C"/>
              </a:solidFill>
              <a:ln w="9525" cap="flat">
                <a:solidFill>
                  <a:srgbClr val="E74C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Clear</c:v>
                  </c:pt>
                  <c:pt idx="1">
                    <c:v>Paraphrased</c:v>
                  </c:pt>
                  <c:pt idx="2">
                    <c:v>Ambiguous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88.33</c:v>
                </c:pt>
                <c:pt idx="1">
                  <c:v>69.17</c:v>
                </c:pt>
                <c:pt idx="2">
                  <c:v>51.67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Gemma 2 2B</c:v>
                </c:pt>
              </c:strCache>
            </c:strRef>
          </c:tx>
          <c:spPr>
            <a:solidFill>
              <a:srgbClr val="2980B9"/>
            </a:solidFill>
            <a:ln w="31750" cap="flat">
              <a:solidFill>
                <a:srgbClr val="2980B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980B9"/>
              </a:solidFill>
              <a:ln w="9525" cap="flat">
                <a:solidFill>
                  <a:srgbClr val="2980B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Clear</c:v>
                  </c:pt>
                  <c:pt idx="1">
                    <c:v>Paraphrased</c:v>
                  </c:pt>
                  <c:pt idx="2">
                    <c:v>Ambiguous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95.83</c:v>
                </c:pt>
                <c:pt idx="1">
                  <c:v>83.33</c:v>
                </c:pt>
                <c:pt idx="2">
                  <c:v>65.83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Llama 3 8B</c:v>
                </c:pt>
              </c:strCache>
            </c:strRef>
          </c:tx>
          <c:spPr>
            <a:solidFill>
              <a:srgbClr val="27AE60"/>
            </a:solidFill>
            <a:ln w="31750" cap="flat">
              <a:solidFill>
                <a:srgbClr val="27AE6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7AE60"/>
              </a:solidFill>
              <a:ln w="9525" cap="flat">
                <a:solidFill>
                  <a:srgbClr val="27AE6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Clear</c:v>
                  </c:pt>
                  <c:pt idx="1">
                    <c:v>Paraphrased</c:v>
                  </c:pt>
                  <c:pt idx="2">
                    <c:v>Ambiguous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96.67</c:v>
                </c:pt>
                <c:pt idx="1">
                  <c:v>86.67</c:v>
                </c:pt>
                <c:pt idx="2">
                  <c:v>63.33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Mistral 7B</c:v>
                </c:pt>
              </c:strCache>
            </c:strRef>
          </c:tx>
          <c:spPr>
            <a:solidFill>
              <a:srgbClr val="F39C12"/>
            </a:solidFill>
            <a:ln w="31750" cap="flat">
              <a:solidFill>
                <a:srgbClr val="F39C1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39C12"/>
              </a:solidFill>
              <a:ln w="9525" cap="flat">
                <a:solidFill>
                  <a:srgbClr val="F39C1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Clear</c:v>
                  </c:pt>
                  <c:pt idx="1">
                    <c:v>Paraphrased</c:v>
                  </c:pt>
                  <c:pt idx="2">
                    <c:v>Ambiguous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99.17</c:v>
                </c:pt>
                <c:pt idx="1">
                  <c:v>90.83</c:v>
                </c:pt>
                <c:pt idx="2">
                  <c:v>80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Accuracy by Interface Size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Small (10 elements)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TinyLlama</c:v>
                  </c:pt>
                  <c:pt idx="1">
                    <c:v>Phi-3 Mini</c:v>
                  </c:pt>
                  <c:pt idx="2">
                    <c:v>Gemma 2</c:v>
                  </c:pt>
                  <c:pt idx="3">
                    <c:v>Llama 3</c:v>
                  </c:pt>
                  <c:pt idx="4">
                    <c:v>Mistral 7B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78.33</c:v>
                </c:pt>
                <c:pt idx="2">
                  <c:v>84.44</c:v>
                </c:pt>
                <c:pt idx="3">
                  <c:v>88.89</c:v>
                </c:pt>
                <c:pt idx="4">
                  <c:v>93.33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Large (21-24 elements)</c:v>
                </c:pt>
              </c:strCache>
            </c:strRef>
          </c:tx>
          <c:spPr>
            <a:solidFill>
              <a:srgbClr val="F194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TinyLlama</c:v>
                  </c:pt>
                  <c:pt idx="1">
                    <c:v>Phi-3 Mini</c:v>
                  </c:pt>
                  <c:pt idx="2">
                    <c:v>Gemma 2</c:v>
                  </c:pt>
                  <c:pt idx="3">
                    <c:v>Llama 3</c:v>
                  </c:pt>
                  <c:pt idx="4">
                    <c:v>Mistral 7B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4.44</c:v>
                </c:pt>
                <c:pt idx="1">
                  <c:v>61.11</c:v>
                </c:pt>
                <c:pt idx="2">
                  <c:v>78.89</c:v>
                </c:pt>
                <c:pt idx="3">
                  <c:v>75.56</c:v>
                </c:pt>
                <c:pt idx="4">
                  <c:v>86.67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Presentation of CO-OP Project at Industry (Module-2) (22CS421)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37160" y="502920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Evaluating LLMs for UI Element Selection: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Query Ambiguity and Interface Complexity in Developer Tools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423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Harjot Singh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72491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Roll Number: 2210990363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31546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Supervised By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4290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 Gurpreet Singh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Associate Professor, Dept. of CSE, Chitkara University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41605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and Engineering,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Chitkara University, Punjab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Outline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8288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CHITKARA</a:t>
            </a:r>
            <a:endParaRPr lang="en-US" sz="750" dirty="0"/>
          </a:p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85800"/>
            <a:ext cx="80467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 Introduction &amp; Motivation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 Literature Survey &amp; Research Gaps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 Dataset Design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 Methodology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 Results &amp; Analysis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 Discussion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 Conclusion &amp; Future Work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8288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CHITKARA</a:t>
            </a:r>
            <a:endParaRPr lang="en-US" sz="750" dirty="0"/>
          </a:p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Background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Modern developer platforms (GitHub, AWS) contain dozens of interactive UI elements, creating navigation challenges for LLM-powered agents.
</a:t>
            </a:r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LLMs must simultaneously: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Understand ambiguous natural language queries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Select the correct UI element from many candidates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Empirically evaluate 5 open-source LLMs (1.1B–8B parameters) on UI element selection across 3 ambiguity levels × 2 interface sizes.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0" y="1005840"/>
            <a:ext cx="1463040" cy="12801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10972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943600" y="1783080"/>
            <a:ext cx="1463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Queries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543800" y="1005840"/>
            <a:ext cx="1463040" cy="12801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43800" y="10972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543800" y="1783080"/>
            <a:ext cx="1463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Tested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0" y="2514600"/>
            <a:ext cx="1463040" cy="12801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26060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943600" y="3291840"/>
            <a:ext cx="1463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Tasks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543800" y="2514600"/>
            <a:ext cx="1463040" cy="12801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43800" y="26060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543800" y="3291840"/>
            <a:ext cx="1463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 (GitHub &amp; AWS)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Survey &amp; Research Gaps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8288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CHITKARA</a:t>
            </a:r>
            <a:endParaRPr lang="en-US" sz="750" dirty="0"/>
          </a:p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Prior Work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LLM Benchmarks: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GLUE, SuperGLUE, BIG-Bench, MMLU — test NLU but not UI selection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48132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 Agents: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Mind2Web, WebArena — multi-step tasks with closed/large models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04825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Small LLMs: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Mistral 7B, Phi-3 Mini, Gemma 2, Llama 3 — used individually but not compared systematically on UI tasks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61518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Query Ambiguity: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Studied in IR &amp; dialogue but not in UI element selection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0" y="5943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Identified Gaps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914400"/>
            <a:ext cx="256032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88696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Gap 1: No controlled study of query ambiguity in UI element selection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1572768"/>
            <a:ext cx="256032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54533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Gap 2: Interface complexity not used as experimental variable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2231136"/>
            <a:ext cx="256032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20370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Gap 3: Sub-8B open-source models under-evaluated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2889504"/>
            <a:ext cx="256032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86207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Gap 4: No formal pairwise statistical significance testing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3547872"/>
            <a:ext cx="256032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5204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Gap 5: Developer platforms (GitHub, AWS) excluded from UI agent datasets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Design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8288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CHITKARA</a:t>
            </a:r>
            <a:endParaRPr lang="en-US" sz="750" dirty="0"/>
          </a:p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4389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× 2 Factorial Structure
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Ambiguity Levels (3):
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Clear: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Direct technical language
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Paraphrased: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Synonyms, altered syntax
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Ambiguous: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Vague, intent-implied language
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Interface Sizes (2):
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Small: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UI elements (10% random chance)
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Large: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21–24 UI elements (4.5% random chance)
</a:t>
            </a:r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 automatic validation checks passed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5943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Statistics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005840"/>
          <a:ext cx="38404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Property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GitHub/AWS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Total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Base Tasks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 / 30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60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Total Rows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180 / 180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360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Ambiguity levels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 each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120/level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Interface sizes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 each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180/size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Validation checks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18/18 passed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Pass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8288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CHITKARA</a:t>
            </a:r>
            <a:endParaRPr lang="en-US" sz="750" dirty="0"/>
          </a:p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5669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Models Evaluated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86968"/>
          <a:ext cx="50292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  <a:gridCol w="1005840"/>
              </a:tblGrid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Params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Developer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Acc 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F1-W 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TinyLlama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1.1B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TinyLlama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7.22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9.70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Phi-3 Mini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3.8B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Microsoft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69.72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74.32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Gemma 2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2B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Google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81.67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84.04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Llama 3 8B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8B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Meta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82.22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84.55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Mistral 7B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7B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Mistral AI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90.00 ✓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91.05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577840" y="594360"/>
            <a:ext cx="32918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Inference Setup
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Platform:  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Google Colab T4 GPU (16 GB VRAM)
</a:t>
            </a:r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Framework: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Ollama
</a:t>
            </a:r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Prompting: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Zero-shot, temperature = 0
</a:t>
            </a:r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 Metrics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Accuracy (primary)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Weighted F1, Precision, Recall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McNemar's test (all 10 model pairs)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Significance threshold: p &lt; 0.05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– Overall Accuracy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8288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CHITKARA</a:t>
            </a:r>
            <a:endParaRPr lang="en-US" sz="750" dirty="0"/>
          </a:p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594360"/>
          <a:ext cx="53035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852160" y="594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852160" y="1024128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26480" y="960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Mistral 7B achieves best accuracy: 90.00%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852160" y="1682496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0" y="161848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Gemma 2 (2B) ≈ Llama 3 (8B) — statistically indistinguishable (p = 0.8918)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852160" y="2340864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26480" y="2276856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TinyLlama (1.1B) at 7.22% — near random chance baseline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2999232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26480" y="293522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Instruction tuning quality &gt; model size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852160" y="3657600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26480" y="359359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~2B parameters appears to be minimum viable threshold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– Effect of Query Ambiguity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8288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CHITKARA</a:t>
            </a:r>
            <a:endParaRPr lang="en-US" sz="750" dirty="0"/>
          </a:p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594360"/>
          <a:ext cx="53035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806440" y="5943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Accuracy Drop: Clear → Ambiguous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1005840"/>
          <a:ext cx="3063240" cy="914400"/>
        </p:xfrm>
        <a:graphic>
          <a:graphicData uri="http://schemas.openxmlformats.org/drawingml/2006/table">
            <a:tbl>
              <a:tblPr/>
              <a:tblGrid>
                <a:gridCol w="765810"/>
                <a:gridCol w="765810"/>
                <a:gridCol w="765810"/>
                <a:gridCol w="76581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Clear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Ambig.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Drop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Phi-3 Mini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88.33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51.67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-36.7 pp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Gemma 2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95.83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65.83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-30.0 pp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Llama 3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96.67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63.33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-33.3 pp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Mistral 7B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99.17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80.00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7AE6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-19.2 pp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806440" y="29718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Ambiguity is the dominant failure mode — causing up to 36.7 pp drop in accuracy.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– Effect of Interface Complexity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8288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CHITKARA</a:t>
            </a:r>
            <a:endParaRPr lang="en-US" sz="750" dirty="0"/>
          </a:p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594360"/>
          <a:ext cx="53035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806440" y="5943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Interface Impact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1005840"/>
          <a:ext cx="3063240" cy="914400"/>
        </p:xfrm>
        <a:graphic>
          <a:graphicData uri="http://schemas.openxmlformats.org/drawingml/2006/table">
            <a:tbl>
              <a:tblPr/>
              <a:tblGrid>
                <a:gridCol w="765810"/>
                <a:gridCol w="765810"/>
                <a:gridCol w="765810"/>
                <a:gridCol w="76581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Small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Large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Drop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TinyLlama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10.00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4.44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-5.56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Phi-3 Mini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78.33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61.11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-17.22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Gemma 2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84.44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78.89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-5.55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Llama 3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88.89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75.56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-13.33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Mistral 7B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93.33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86.67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-6.66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806440" y="30175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Worst condition: Ambiguous + Large interface.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Compound degradation is non-linear — more than sum of individual effects.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– Statistical Significance (McNemar's Test)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8288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CHITKARA</a:t>
            </a:r>
            <a:endParaRPr lang="en-US" sz="750" dirty="0"/>
          </a:p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10 pairwise model comparisons tested using McNemar's test (p &lt; 0.05 threshold)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32688"/>
          <a:ext cx="5303520" cy="914400"/>
        </p:xfrm>
        <a:graphic>
          <a:graphicData uri="http://schemas.openxmlformats.org/drawingml/2006/table">
            <a:tbl>
              <a:tblPr/>
              <a:tblGrid>
                <a:gridCol w="1767840"/>
                <a:gridCol w="1767840"/>
                <a:gridCol w="17678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 Pair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p-value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Significant?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Phi-3 Mini vs. Gemma 2 2B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&lt; 0.0001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Yes ✓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Phi-3 Mini vs. TinyLlama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&lt; 0.0001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Yes ✓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Phi-3 Mini vs. Mistral 7B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&lt; 0.0001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Yes ✓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Phi-3 Mini vs. Llama 3 8B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&lt; 0.0001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Yes ✓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Gemma 2 2B vs. TinyLlama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&lt; 0.0001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Yes ✓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Gemma 2 2B vs. Mistral 7B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&lt; 0.0001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Yes ✓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Gemma 2 2B vs. Llama 3 8B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0.8918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 ✗ — Not Significant!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TinyLlama vs. Mistral 7B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&lt; 0.0001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Yes ✓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TinyLlama vs. Llama 3 8B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&lt; 0.0001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Yes ✓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Mistral 7B vs. Llama 3 8B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0.0001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Yes ✓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852160" y="960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52160" y="132588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Gemma 2 (2B) and Llama 3 (8B) are statistically indistinguishable (p = 0.8918) despite a 6B parameter gap.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proves instruction-tuning quality matters more than raw model size for structured UI selection tasks.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&amp; Future 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8288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CHITKARA</a:t>
            </a:r>
            <a:endParaRPr lang="en-US" sz="750" dirty="0"/>
          </a:p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20116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932688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Mistral 7B achieves best accuracy (90.00%); TinyLlama (7.22%) is near random chance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472184"/>
            <a:ext cx="20116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444752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Query ambiguity is the dominant failure mode — outweighs interface complexity effects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984248"/>
            <a:ext cx="20116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956816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Ambiguity + large interface creates a compound, non-linear degradation effect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496312"/>
            <a:ext cx="20116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46888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Gemma 2 (2B) ≈ Llama 3 (8B) statistically — instruction tuning &gt; model size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008376"/>
            <a:ext cx="20116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980944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~1.5–2B parameter threshold exists for viable UI agent behavior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520440"/>
            <a:ext cx="20116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493008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5 research gaps in literature have been addressed by this study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0" y="5943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303520" y="960120"/>
            <a:ext cx="182880" cy="182880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932688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Few-shot and chain-of-thought prompting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03520" y="1472184"/>
            <a:ext cx="182880" cy="182880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144475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Query disambiguation pre-processing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03520" y="1984248"/>
            <a:ext cx="182880" cy="182880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1956816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Fine-tuning on developer UI vocabularies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03520" y="2496312"/>
            <a:ext cx="182880" cy="182880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246888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Expansion to mobile interfaces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303520" y="3008376"/>
            <a:ext cx="182880" cy="182880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0" y="2980944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Non-English language interfaces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03520" y="3520440"/>
            <a:ext cx="182880" cy="182880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0" y="3493008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Consumer-facing application platforms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0"/>
            <a:ext cx="18288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CHITKARA</a:t>
            </a:r>
            <a:endParaRPr lang="en-US" sz="750" dirty="0"/>
          </a:p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0" y="16459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2834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34290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Harjot Singh | 2210990363 | Chitkara University, Punjab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Evaluating LLMs for UI Element Selection</dc:title>
  <dc:subject>PptxGenJS Presentation</dc:subject>
  <dc:creator>PptxGenJS</dc:creator>
  <cp:lastModifiedBy>PptxGenJS</cp:lastModifiedBy>
  <cp:revision>1</cp:revision>
  <dcterms:created xsi:type="dcterms:W3CDTF">2026-04-29T03:52:36Z</dcterms:created>
  <dcterms:modified xsi:type="dcterms:W3CDTF">2026-04-29T03:52:36Z</dcterms:modified>
</cp:coreProperties>
</file>