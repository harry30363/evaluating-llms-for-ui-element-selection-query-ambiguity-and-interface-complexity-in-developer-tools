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Overall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22B2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C70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32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TinyLlama
(1.1B)</c:v>
                  </c:pt>
                  <c:pt idx="1">
                    <c:v>Phi-3 Mini
(3.8B)</c:v>
                  </c:pt>
                  <c:pt idx="2">
                    <c:v>Gemma 2
(2B)</c:v>
                  </c:pt>
                  <c:pt idx="3">
                    <c:v>Llama 3
(8B)</c:v>
                  </c:pt>
                  <c:pt idx="4">
                    <c:v>Mistral 7B
(7B)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7.22</c:v>
                </c:pt>
                <c:pt idx="1">
                  <c:v>69.72</c:v>
                </c:pt>
                <c:pt idx="2">
                  <c:v>81.67</c:v>
                </c:pt>
                <c:pt idx="3">
                  <c:v>82.22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2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Accuracy by Ambiguity Level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Phi-3 Mini</c:v>
                </c:pt>
              </c:strCache>
            </c:strRef>
          </c:tx>
          <c:spPr>
            <a:solidFill>
              <a:srgbClr val="E74C3C"/>
            </a:solidFill>
            <a:ln w="3175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Clear</c:v>
                  </c:pt>
                  <c:pt idx="1">
                    <c:v>Paraphrased</c:v>
                  </c:pt>
                  <c:pt idx="2">
                    <c:v>Ambiguous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88.33</c:v>
                </c:pt>
                <c:pt idx="1">
                  <c:v>69.17</c:v>
                </c:pt>
                <c:pt idx="2">
                  <c:v>51.67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Gemma 2 2B</c:v>
                </c:pt>
              </c:strCache>
            </c:strRef>
          </c:tx>
          <c:spPr>
            <a:solidFill>
              <a:srgbClr val="2980B9"/>
            </a:solidFill>
            <a:ln w="31750" cap="flat">
              <a:solidFill>
                <a:srgbClr val="2980B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980B9"/>
              </a:solidFill>
              <a:ln w="9525" cap="flat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Clear</c:v>
                  </c:pt>
                  <c:pt idx="1">
                    <c:v>Paraphrased</c:v>
                  </c:pt>
                  <c:pt idx="2">
                    <c:v>Ambiguous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95.83</c:v>
                </c:pt>
                <c:pt idx="1">
                  <c:v>83.33</c:v>
                </c:pt>
                <c:pt idx="2">
                  <c:v>65.83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 3 8B</c:v>
                </c:pt>
              </c:strCache>
            </c:strRef>
          </c:tx>
          <c:spPr>
            <a:solidFill>
              <a:srgbClr val="27AE60"/>
            </a:solidFill>
            <a:ln w="31750" cap="flat">
              <a:solidFill>
                <a:srgbClr val="27AE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Clear</c:v>
                  </c:pt>
                  <c:pt idx="1">
                    <c:v>Paraphrased</c:v>
                  </c:pt>
                  <c:pt idx="2">
                    <c:v>Ambiguous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96.67</c:v>
                </c:pt>
                <c:pt idx="1">
                  <c:v>86.67</c:v>
                </c:pt>
                <c:pt idx="2">
                  <c:v>63.33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Mistral 7B</c:v>
                </c:pt>
              </c:strCache>
            </c:strRef>
          </c:tx>
          <c:spPr>
            <a:solidFill>
              <a:srgbClr val="F39C12"/>
            </a:solidFill>
            <a:ln w="31750" cap="flat">
              <a:solidFill>
                <a:srgbClr val="F39C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Clear</c:v>
                  </c:pt>
                  <c:pt idx="1">
                    <c:v>Paraphrased</c:v>
                  </c:pt>
                  <c:pt idx="2">
                    <c:v>Ambiguous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99.17</c:v>
                </c:pt>
                <c:pt idx="1">
                  <c:v>90.83</c:v>
                </c:pt>
                <c:pt idx="2">
                  <c:v>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Accuracy by Interface Size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Small (10 el.)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TinyLlama</c:v>
                  </c:pt>
                  <c:pt idx="1">
                    <c:v>Phi-3 Mini</c:v>
                  </c:pt>
                  <c:pt idx="2">
                    <c:v>Gemma 2</c:v>
                  </c:pt>
                  <c:pt idx="3">
                    <c:v>Llama 3</c:v>
                  </c:pt>
                  <c:pt idx="4">
                    <c:v>Mistral 7B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78.33</c:v>
                </c:pt>
                <c:pt idx="2">
                  <c:v>84.44</c:v>
                </c:pt>
                <c:pt idx="3">
                  <c:v>88.89</c:v>
                </c:pt>
                <c:pt idx="4">
                  <c:v>93.33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 (21-24 el.)</c:v>
                </c:pt>
              </c:strCache>
            </c:strRef>
          </c:tx>
          <c:spPr>
            <a:solidFill>
              <a:srgbClr val="F194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TinyLlama</c:v>
                  </c:pt>
                  <c:pt idx="1">
                    <c:v>Phi-3 Mini</c:v>
                  </c:pt>
                  <c:pt idx="2">
                    <c:v>Gemma 2</c:v>
                  </c:pt>
                  <c:pt idx="3">
                    <c:v>Llama 3</c:v>
                  </c:pt>
                  <c:pt idx="4">
                    <c:v>Mistral 7B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4.44</c:v>
                </c:pt>
                <c:pt idx="1">
                  <c:v>61.11</c:v>
                </c:pt>
                <c:pt idx="2">
                  <c:v>78.89</c:v>
                </c:pt>
                <c:pt idx="3">
                  <c:v>75.56</c:v>
                </c:pt>
                <c:pt idx="4">
                  <c:v>86.67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2552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Presentation of CO-OP Project at Industry (Module-2) (22CS421)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Evaluating LLMs for UI Element Selection: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Ambiguity and Interface Complexity in Developer Tools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Harjot Singh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 Number: 2210990363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4564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Gurpreet Singh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Associate Professor, Dept. of CSE, Chitkara University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University, Punjab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419" y="228600"/>
            <a:ext cx="2057400" cy="6345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2552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635690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1887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</a:t>
            </a:r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Motivation
</a:t>
            </a:r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</a:t>
            </a:r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&amp; Research Gaps
</a:t>
            </a:r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</a:t>
            </a:r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Design
</a:t>
            </a:r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</a:t>
            </a:r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
</a:t>
            </a:r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</a:t>
            </a:r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Analysis
</a:t>
            </a:r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</a:t>
            </a:r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
</a:t>
            </a:r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</a:t>
            </a:r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Work
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419" y="228600"/>
            <a:ext cx="2057400" cy="6345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2552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635690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960120"/>
            <a:ext cx="55778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developer platforms (GitHub, AWS) contain dozens of interactive UI elements, creating navigation challenges for LLM-powered agents.
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LLMs must simultaneously: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•  Understand ambiguous natural language queries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•  Select the correct UI element from many candidates
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Empirically evaluate 5 open-source LLMs (1.1B–8B parameters) on UI element selection across 3 ambiguity levels × 2 interface sizes.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89320" y="1188720"/>
            <a:ext cx="1463040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1280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89320" y="2103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Queries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89520" y="1188720"/>
            <a:ext cx="1463040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1280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7589520" y="2103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3108960"/>
            <a:ext cx="1463040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200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5989320" y="40233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89520" y="3108960"/>
            <a:ext cx="1463040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3200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7589520" y="40233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Platforms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(GitHub &amp; AWS)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&amp; Research Gaps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419" y="228600"/>
            <a:ext cx="2057400" cy="6345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2552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635690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 Work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" y="14173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Benchmarks: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GLUE, SuperGLUE, BIG-Bench, MMLU — test NLU but not UI selection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28600" y="24231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Agents: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Mind2Web, WebArena — multi-step tasks with closed/large models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8600" y="34290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LLMs: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Mistral 7B, Phi-3 Mini, Gemma 2, Llama 3 — used individually but not compared systematically on UI tasks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28600" y="44348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Ambiguity: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Studied in IR &amp; dialogue but not in UI element selection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663440" y="10058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Identified Gaps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435608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1408176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1: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controlled study of query ambiguity in UI element selection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2368296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2340864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2: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complexity not used as experimental variable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3300984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327355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3: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Sub-8B open-source models under-evaluated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423367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42062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4: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formal pairwise statistical significance testing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5166360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0" y="513892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5: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Developer platforms (GitHub, AWS) excluded from UI agent datasets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Design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419" y="228600"/>
            <a:ext cx="2057400" cy="6345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2552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635690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" y="960120"/>
            <a:ext cx="45720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× 2 Factorial Structure
</a:t>
            </a:r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Ambiguity Levels (3):
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 technical language
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Paraphrased: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Synonyms, altered syntax
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Ambiguous: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Vague, intent-implied language
</a:t>
            </a:r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Sizes (2):
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UI elements (10% random chance)
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21–24 UI elements (4.5% random chance)
</a:t>
            </a:r>
            <a:pPr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automatic validation checks passed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Statistics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1732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Property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GitHub / AWS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 Tasks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 / 30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Rows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180 / 180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360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Ambiguity levels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each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120/level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Interface sizes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 each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180/size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Validation checks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18/18 passed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419" y="228600"/>
            <a:ext cx="2057400" cy="6345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2552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635690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" y="9875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Evaluated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325880"/>
          <a:ext cx="5303520" cy="914400"/>
        </p:xfrm>
        <a:graphic>
          <a:graphicData uri="http://schemas.openxmlformats.org/drawingml/2006/table">
            <a:tbl>
              <a:tblPr/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Params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 %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F1-W %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TinyLlama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1.1B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TinyLlama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7.22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9.70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3.8B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Microsoft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69.72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74.32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Gemma 2 2B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Google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81.67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84.04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Llama 3 8B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Meta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82.22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84.55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Mistral 7B ★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Mistral AI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90.00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91.05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715000" y="960120"/>
            <a:ext cx="3200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Setup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Platform: 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Colab T4 GPU (16 GB VRAM)
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Framework: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Ollama
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Prompting: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Zero-shot, temperature = 0
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  •  Accuracy (primary)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•  Weighted F1, Precision, Recall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•  McNemar's test (all 10 model pairs)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•  Significance threshold: p &lt; 0.05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Overall Accuracy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419" y="228600"/>
            <a:ext cx="2057400" cy="6345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2552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635690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1005840"/>
          <a:ext cx="5394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80644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806440" y="1463040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80760" y="140817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Mistral 7B achieves best accuracy: 90.00%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06440" y="2176272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80760" y="212140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Gemma 2 (2B) ≈ Llama 3 (8B) — statistically indistinguishable (p = 0.8918)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06440" y="2889504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80760" y="28346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TinyLlama (1.1B) at 7.22% — near random chance baseline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806440" y="3602736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80760" y="354787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Instruction tuning quality &gt; model size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806440" y="4315968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80760" y="426110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~2B parameters is minimum viable threshold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Effect of Query Ambiguity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419" y="228600"/>
            <a:ext cx="2057400" cy="6345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2552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635690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987552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228600" y="46177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98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Ambiguity is the dominant failure mode — causing up to 36.7 pp drop in accuracy.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15000" y="987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Drop: Clear → Ambiguous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371600"/>
          <a:ext cx="3200400" cy="91440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01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Ambig.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Drop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88.33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51.67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-36.7 pp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Gemma 2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95.83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65.83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-30.0 pp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Llama 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96.67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63.33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-33.3 pp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Mistral 7B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99.17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80.00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-19.2 pp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Effect of Interface Complexity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419" y="228600"/>
            <a:ext cx="2057400" cy="6345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2552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635690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987552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228600" y="47548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98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Worst condition: Ambiguous + Large interface.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9898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Compound degradation is non-linear — more than sum of individual effects.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15000" y="987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Impact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371600"/>
          <a:ext cx="3200400" cy="91440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01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Small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Large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Drop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TinyLlama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10.00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4.44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-5.56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78.33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61.11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-17.22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Gemma 2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84.44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78.89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-5.55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Llama 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88.89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75.56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-13.33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Mistral 7B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93.33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86.67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-6.66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Statistical Significance (McNemar's Test)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419" y="228600"/>
            <a:ext cx="2057400" cy="6345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2552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635690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" y="9875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10 pairwise model comparisons tested using McNemar's test (p &lt; 0.05 threshold)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353312"/>
          <a:ext cx="5394960" cy="914400"/>
        </p:xfrm>
        <a:graphic>
          <a:graphicData uri="http://schemas.openxmlformats.org/drawingml/2006/table">
            <a:tbl>
              <a:tblPr/>
              <a:tblGrid>
                <a:gridCol w="1798320"/>
                <a:gridCol w="1798320"/>
                <a:gridCol w="17983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Pair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p-value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Significant?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 vs. Gemma 2 2B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 vs. TinyLlama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 vs. Mistral 7B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 vs. Llama 3 8B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Gemma 2 2B vs. TinyLlama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Gemma 2 2B vs. Mistral 7B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Gemma 2 2B vs. Llama 3 8B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0.8918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✗  — Not Significant!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TinyLlama vs. Mistral 7B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TinyLlama vs. Llama 3 8B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Mistral 7B vs. Llama 3 8B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0.0001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806440" y="9875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806440" y="13716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Gemma 2 (2B) and Llama 3 (8B) are statistically indistinguishable (p = 0.8918) despite a 6B parameter gap.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proves instruction-tuning quality matters more than raw model size for structured UI selection tasks.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12648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Work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419" y="228600"/>
            <a:ext cx="2057400" cy="6345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2552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635690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" y="9875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28600" y="144475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208" y="1408176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Mistral 7B achieves best accuracy (90.00%); TinyLlama (7.22%) is near random chance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8600" y="2157984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" y="2121408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ambiguity is the dominant failure mode — outweighs interface complexity effects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8600" y="2871216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283464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Ambiguity + large interface creates a compound, non-linear degradation effect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8600" y="3584448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" y="3547872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Gemma 2 (2B) ≈ Llama 3 (8B) statistically — instruction tuning &gt; model size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28600" y="4297680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" y="4261104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~1.5–2B parameter threshold exists for viable UI agent behavior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28600" y="501091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208" y="4974336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5 research gaps in literature have been addressed by this study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577840" y="9875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577840" y="1444752"/>
            <a:ext cx="182880" cy="182880"/>
          </a:xfrm>
          <a:prstGeom prst="ellipse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140817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Few-shot and chain-of-thought prompting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577840" y="2157984"/>
            <a:ext cx="182880" cy="182880"/>
          </a:xfrm>
          <a:prstGeom prst="ellipse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21214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disambiguation pre-processing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577840" y="2871216"/>
            <a:ext cx="182880" cy="182880"/>
          </a:xfrm>
          <a:prstGeom prst="ellipse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0" y="28346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Fine-tuning on developer UI vocabularies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577840" y="3584448"/>
            <a:ext cx="182880" cy="182880"/>
          </a:xfrm>
          <a:prstGeom prst="ellipse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52160" y="35478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Expansion to mobile interfaces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577840" y="4297680"/>
            <a:ext cx="182880" cy="182880"/>
          </a:xfrm>
          <a:prstGeom prst="ellipse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52160" y="4261104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Non-English language interfaces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577840" y="5010912"/>
            <a:ext cx="182880" cy="182880"/>
          </a:xfrm>
          <a:prstGeom prst="ellipse">
            <a:avLst/>
          </a:prstGeom>
          <a:solidFill>
            <a:srgbClr val="898989"/>
          </a:solidFill>
          <a:ln w="12700">
            <a:solidFill>
              <a:srgbClr val="89898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497433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Consumer-facing application platforms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02552"/>
            <a:ext cx="9144000" cy="19751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9898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9898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Harjot Singh | 2210990363 | Chitkara University, Punjab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2026-05-17T10:03:20Z</dcterms:created>
  <dcterms:modified xsi:type="dcterms:W3CDTF">2026-05-17T10:03:20Z</dcterms:modified>
</cp:coreProperties>
</file>